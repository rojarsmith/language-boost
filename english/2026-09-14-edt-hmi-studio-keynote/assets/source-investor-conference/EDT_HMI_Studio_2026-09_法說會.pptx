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9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帶動之硬體營收目標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0" i="0" u="none" strike="noStrike">
                    <a:solidFill>
                      <a:srgbClr val="1E2761"/>
                    </a:solidFill>
                    <a:latin typeface="Microsoft JhengHe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8</c:v>
                </c:pt>
                <c:pt idx="2">
                  <c:v>14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77-4484-B244-E0807B518D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B4F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9525" cap="flat">
              <a:solidFill>
                <a:srgbClr val="E4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5313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重點:EDT HMI Studio 不直接銷售。商業模式是「軟體免費、硬體訂做」— 客戶把相容 LCM 硬體交由 EDT 製造,軟體即免費,軟體因此成為硬體訂單的成長引擎。定位是「賣鏟子」的生意:高度整合的軟體鏟子讓 EDT 切進過去缺乏軟體工具而無法觸及的 HMI 市場。客戶價值:完全不用寫一行程式碼,AI 代勞大量重複性工作(輔助正式產品開發、高速產出原型),一天完成媲美智慧型手機體驗的 HMI。時程:內部測試版已完成 80%,2026 年 12 月正式推出。AI 用量(Token)由客戶自行向 OpenRouter 購買或由 EDT 代購,代購形成經常性收入。產品力達獨立軟體公司水準,對其他 HMI 廠商、甚至 IC 廠商賣授權也毫不遜色 — 保留未來變現選擇權。不談技術細節,聚焦商業模式。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重點:市場數字引用第三方研究 — HMI 市場 2030 年 116 億美元(CAGR 10.4%)、製造業 AI 市場 2030 年 1,550 億美元(CAGR 35.3%)。因軟體免費,營收貢獻反映在「帶動的訂製 LCM 硬體訂單」:內部目標 2027 年 3 億、2028 年 8 億、2029 年 14 億、2030 年 20 億元,屆時佔整體營收 35% 以上;另有 AI Token 代購之經常性收入。目標經同業營收交叉檢核(見附錄 C):20 億元約當 Beijer Electronics 三成、Qt Group 四分之一體量,僅佔 2030 年全球 HMI 市場約 0.6%,並不激進。時程口徑:2026 年 12 月正式推出,故 2027 年為首個完整貢獻年度。務必強調前瞻性陳述聲明,數字須經財務核定。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講者參考頁,不對外投影。附錄 A 的實機佐證:左圖 STM32CubeIDE — 專案樹裡是 main.c、HAL 驅動、.ioc 設定檔與晶片腳位設定,全部要嵌入式工程師逐項處理;右圖 TouchGFX Designer — 只負責畫面,拉完之後程式碼、通訊協議與整合仍要回到 IDE 手工完成。重點:傳統做法是兩套工具、兩種專業、反覆切換與重編譯;EDT HMI Studio 收斂成一個工具、免寫程式、內建模擬器,原型一天完成、風險趨近於零。著作權:兩張圖屬 ST,已於頁尾標註來源與權利歸屬,且本頁不對外投影。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對外頁。核心對比:傳統 GUI 編輯器沒有 AI,素材、排版、規劃都靠人力逐一拖曳對位,通訊協議與驅動程式全部手寫,又沒有模擬器,必須等硬體到位才看得到結果。EDT HMI Studio 內建 AI 並串接 API Token,三大關鍵能力:(1) 通訊協議免寫程式,設定即完成;(2) 內建模擬器,不必等硬體就能即時預覽與修改;(3) 多平台部署,不綁單一晶片生態。圖一:對 AI 說「產生充電樁 ICON 放在 Welcome 左上方」,AI 直接產生圖形素材、建立元件並精準定位,全程零程式碼、零手工對位。圖二:由 AI 產出的日本先進洗衣機 HMI 完整方案,多畫面、多國語系、動畫與狀態全部到位。兩張皆為內部測試版實際產出,非模擬示意 — 這是「真正的 AI 產品」最有力的證據。傳統流程的風險量化,見附錄 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講者參考頁,不對外投影。用途:回答「這樣的軟體到底替客戶省下什麼」。傳統做法要用程式語言搭配只有 GUI 的編輯器 — 以 STM32CubeIDE + TouchGFX Designer 為例,五個步驟每一步都有風險:設計一改就要重新生成與合併程式碼、週邊設定錯誤難排查、手寫通訊協議是整合期延誤主因、必須等硬體到位才能上機除錯、每改一次畫面就要重編譯重燒錄重測。EDT HMI Studio 把這五步收斂成一條龍:免寫程式的通訊協議、內建模擬器不必等硬體、多平台不綁晶片生態、AI 自動排版與規劃。結論三句:原型速度數週至數月變一天且風險趨近於零、研發成本省去韌體團隊與反覆燒錄工時、上市速度更早試錯更早量產。注意:流程圖為自繪示意,未使用他人產品截圖,避免著作權爭議。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講者參考頁,不對外投影。用途:被問到「哪些硬體能用」時的底氣 — LVGL 覆蓋 NXP/Renesas/Espressif(官方夥伴)、ST 等所有主流平台,客戶既有硬體大多可直接支援。加分點:表列 IC 廠商同時是未來軟體授權的潛在對象,呼應第 1 頁「產品力足以獨立授權」。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講者參考頁,不對外投影。用途:回答「20 億元目標怎麼來的」— 用三角檢核(佔全球市場 0.5–0.7%、同業體量約 Beijer 與 Qt 三成上下、自身基礎 66% 分五年)說明目標務實且偏保守的一側。幣別口徑:同業與市場規模以美元計價,EDT 自身營收(現況與目標)以新台幣表述,換算約 6,500 萬美元。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全台晶像 EDT(3038) | 2026 年 9 月法人說明會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EDT HMI Studio 全新發表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348472" y="768096"/>
            <a:ext cx="3291840" cy="676656"/>
          </a:xfrm>
          <a:prstGeom prst="roundRect">
            <a:avLst>
              <a:gd name="adj" fmla="val 10811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5C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348472" y="768096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5C4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 12 月正式推出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內部測試版已完成 80%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447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軟體免費、硬體訂做 —— 以 AI 軟體平台帶動硬體業務的新商業模式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5C4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對業務發展的三大改變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35C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587752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軟體免費,帶動硬體訂單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EDT HMI Studio 不直接銷售;客戶將相容的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LCM 硬體交由 EDT 訂做製造,軟體即可免費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使用,讓軟體成為硬體業務最強的成長引擎。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858768"/>
            <a:ext cx="502920" cy="502920"/>
          </a:xfrm>
          <a:prstGeom prst="ellipse">
            <a:avLst/>
          </a:prstGeom>
          <a:solidFill>
            <a:srgbClr val="35C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379476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EDT 賣鏟子,切進新市場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EDT 是賣鏟子的人:高度整合的軟體鏟子,切進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過去因缺乏軟體工具而無法觸及的 HMI 市場;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每一位拿鏟子的客戶,都是硬體的潛在訂單。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5065776"/>
            <a:ext cx="502920" cy="502920"/>
          </a:xfrm>
          <a:prstGeom prst="ellipse">
            <a:avLst/>
          </a:prstGeom>
          <a:solidFill>
            <a:srgbClr val="35C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5065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5001768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 AI 加值服務收入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使用量(Token)可由客戶自行向 OpenRouter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購買,亦可由 EDT 代購;代購與加值服務形成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新的經常性收入來源。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0" y="2103120"/>
            <a:ext cx="5239512" cy="4041648"/>
          </a:xfrm>
          <a:prstGeom prst="roundRect">
            <a:avLst>
              <a:gd name="adj" fmla="val 226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766560" y="2304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為何優於同業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761488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5C4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</a:t>
            </a: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真正的 AI 原生、客戶零程式碼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不寫一行程式碼,一天完成媲美智慧型手機體驗的 HMI。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3602736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5C4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</a:t>
            </a: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垂直 × 水平的交叉點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三十年工業 HMI 的垂直深度,乘上跨產業的水平擴張力。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4443984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5C4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</a:t>
            </a: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軟體免費,同業收費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同業設計工具多需授權費;免費軟體讓客戶總成本更低。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528523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5C4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</a:t>
            </a: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產品力足以獨立授權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對其他 HMI 廠商、甚至 IC 廠商賣授權亦毫不遜色。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2764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5C4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「HMI 淘金潮裡,EDT 賣的是鏟子 —— 免費的 AI 軟體,是硬體訂單最好的業務員。」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全台晶像 EDT(3038) | 2026 年 9 月法人說明會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市場規模與營收展望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0" cy="1755648"/>
          </a:xfrm>
          <a:prstGeom prst="roundRect">
            <a:avLst>
              <a:gd name="adj" fmla="val 5208"/>
            </a:avLst>
          </a:prstGeom>
          <a:solidFill>
            <a:srgbClr val="F2F6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655064"/>
            <a:ext cx="443484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116 億美元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 HMI 市場規模(2030 年預估)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年複合成長率 10.4%(2023–2030)|Grand View Research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3401568"/>
            <a:ext cx="5029200" cy="1755648"/>
          </a:xfrm>
          <a:prstGeom prst="roundRect">
            <a:avLst>
              <a:gd name="adj" fmla="val 5208"/>
            </a:avLst>
          </a:prstGeom>
          <a:solidFill>
            <a:srgbClr val="F2F6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3547872"/>
            <a:ext cx="443484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1,550 億美元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全球製造業 AI 市場規模(2030 年預估)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年複合成長率 35.3%(2025–2030)|MarketsandMarkets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5989320" y="1481328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EDT HMI Studio 帶動之 LCM 硬體營收目標</a:t>
            </a:r>
            <a:endParaRPr lang="en-US" sz="1650" dirty="0"/>
          </a:p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單位:新台幣億元(公司內部規劃目標)・2027 年為推出後首個完整年度</a:t>
            </a:r>
            <a:endParaRPr lang="en-US" sz="16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989320" y="2121408"/>
          <a:ext cx="56235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3035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85800" y="53949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35C4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億元</a:t>
            </a:r>
            <a:endParaRPr lang="en-US" sz="2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2030 年帶動之硬體營收目標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370832" y="53949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35C4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35% 以上</a:t>
            </a:r>
            <a:endParaRPr lang="en-US" sz="2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2030 年佔整體營收比重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055864" y="53949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35C4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訂製硬體 + AI 代購</a:t>
            </a:r>
            <a:endParaRPr lang="en-US" sz="2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高毛利訂單與經常性收入雙引擎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資料來源:Grand View Research、MarketsandMarkets。本頁營收目標為公司內部長期規劃,屬前瞻性陳述,實際結果可能因市場與營運狀況而異,不構成財務預測或投資建議。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89720" y="384048"/>
            <a:ext cx="2450592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189720" y="38404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講者參考 ・ 不對外投影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A(續) | 2026 年 9 月法人說明會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傳統工具鏈的實機畫面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3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同一件事,在傳統工具鏈裡被拆成兩套工具、兩種專業:一邊是寫程式與設定晶片的 IDE,一邊是只管畫面的 GUI 編輯器 —— 兩邊還得反覆來回。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55648"/>
            <a:ext cx="5367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寫程式的世界:STM32CubeIDE</a:t>
            </a:r>
            <a:endParaRPr lang="en-US" sz="16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專案樹、main.c、HAL 驅動與晶片腳位設定,全部要工程師逐項處理。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245352" y="1755648"/>
            <a:ext cx="5367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只管畫面的世界:TouchGFX Designer</a:t>
            </a:r>
            <a:endParaRPr lang="en-US" sz="16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畫面拉完之後,程式碼、通訊與整合仍得回到 IDE 手工完成。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32688" y="2359152"/>
            <a:ext cx="4599432" cy="2962656"/>
          </a:xfrm>
          <a:prstGeom prst="rect">
            <a:avLst/>
          </a:prstGeom>
          <a:solidFill>
            <a:srgbClr val="E4E9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C:\my\github\edt-hmi-studio\docs\investor-conference-2026-09\assets\fig4-stm32cube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414016"/>
            <a:ext cx="4489704" cy="28529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90488" y="2496312"/>
            <a:ext cx="5477256" cy="2990088"/>
          </a:xfrm>
          <a:prstGeom prst="rect">
            <a:avLst/>
          </a:prstGeom>
          <a:solidFill>
            <a:srgbClr val="E4E9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C:\my\github\edt-hmi-studio\docs\investor-conference-2026-09\assets\fig3-touchgfx-desig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551176"/>
            <a:ext cx="5367528" cy="28803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48640" y="574243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822960" y="5833872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35C4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傳統:兩套工具、兩種專業、反覆切換與重編譯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EDT HMI Studio:一個工具、免寫程式、內建模擬器 —— 原型一天完成,專案風險趨近於零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5288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圖為 STM32CubeIDE(來源:STMicroelectronics 官方 Flathub 應用頁)與 TouchGFX Designer 4.25.0(本機實際操作擷取)之畫面;兩者均為 STMicroelectronics 產品,商標與畫面著作權屬各該權利人所有,此處僅作傳統工具鏈之例示比較。本頁為講者內部參考,不對外投影。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全台晶像 EDT(3038) | 2026 年 9 月法人說明會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 GUI 編輯器做不到的事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5367528" cy="1225296"/>
          </a:xfrm>
          <a:prstGeom prst="roundRect">
            <a:avLst>
              <a:gd name="adj" fmla="val 5970"/>
            </a:avLst>
          </a:prstGeom>
          <a:solidFill>
            <a:srgbClr val="F2F6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371600"/>
            <a:ext cx="4754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333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 GUI 編輯器</a:t>
            </a:r>
            <a:endParaRPr lang="en-US" sz="19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3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逐一拖曳元件、手動對位,沒有 AI</a:t>
            </a:r>
            <a:endParaRPr lang="en-US" sz="19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3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通訊協議、驅動程式全部手寫</a:t>
            </a:r>
            <a:endParaRPr lang="en-US" sz="19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3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沒有模擬器,得等硬體到位才看得到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45352" y="1261872"/>
            <a:ext cx="5367528" cy="1225296"/>
          </a:xfrm>
          <a:prstGeom prst="roundRect">
            <a:avLst>
              <a:gd name="adj" fmla="val 597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565392" y="1371600"/>
            <a:ext cx="4754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EDT HMI Studio ・ 內建 AI</a:t>
            </a:r>
            <a:endParaRPr lang="en-US" sz="19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一句話生成素材,自動放到正確位置</a:t>
            </a:r>
            <a:endParaRPr lang="en-US" sz="19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通訊協議免寫程式;內建模擬器即時預覽</a:t>
            </a:r>
            <a:endParaRPr lang="en-US" sz="19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整套畫面規劃、多平台部署,AI 一次到位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78608"/>
            <a:ext cx="5367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圖一|一句話,素材自動生成並就位</a:t>
            </a:r>
            <a:endParaRPr lang="en-US" sz="16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3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AI 說出需求,即產生圖形素材、建立元件並精準定位。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578608"/>
            <a:ext cx="5367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圖二|一次規劃,產出整套產品級畫面</a:t>
            </a:r>
            <a:endParaRPr lang="en-US" sz="16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3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產出的日本洗衣機 HMI:多畫面、多語系、動畫全到位。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77824" y="3127248"/>
            <a:ext cx="4709160" cy="2834640"/>
          </a:xfrm>
          <a:prstGeom prst="rect">
            <a:avLst/>
          </a:prstGeom>
          <a:solidFill>
            <a:srgbClr val="E4E9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C:\my\github\edt-hmi-studio\docs\investor-conference-2026-09\assets\fig1-ai-asset-plac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182112"/>
            <a:ext cx="4599432" cy="272491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190488" y="3127248"/>
            <a:ext cx="5477256" cy="2743200"/>
          </a:xfrm>
          <a:prstGeom prst="rect">
            <a:avLst/>
          </a:prstGeom>
          <a:solidFill>
            <a:srgbClr val="E4E9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C:\my\github\edt-hmi-studio\docs\investor-conference-2026-09\assets\fig2-ai-full-hm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3182112"/>
            <a:ext cx="5367528" cy="263347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圖一、圖二皆為 EDT HMI Studio 內部測試版實際產出畫面(2026 年 9 月),非模擬示意。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8251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「同業賣的是編輯器;EDT 賣的,是會自己動手的 AI 夥伴。」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89720" y="384048"/>
            <a:ext cx="2450592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189720" y="38404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講者參考 ・ 不對外投影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A | 2026 年 9 月法人說明會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傳統研發流程的時程與風險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333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傳統做法:程式語言 + 純 GUI 編輯器</a:t>
            </a:r>
            <a:endParaRPr lang="en-US" sz="16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STM32CubeIDE 搭配 TouchGFX Designer 為例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20299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993392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333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TouchGFX Designer 拉畫面、產生 C++ 骨架</a:t>
            </a: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風險:設計一改,程式碼重新生成與合併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7523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4864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715768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333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CubeMX / CubeIDE 設定時脈、記憶體、週邊</a:t>
            </a: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風險:設定錯誤難以排查,拖慢整體進度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4864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438144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333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手寫通訊協議與驅動(UART / CAN / Modbus)</a:t>
            </a: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風險:協議解析最常出錯,整合期延誤主因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1970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160520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333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交叉編譯、燒錄、上機除錯</a:t>
            </a: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風險:須等硬體到位,韌體人力全程綁死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9194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48640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882896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333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每改一次畫面 → 重編譯、重燒錄、重測</a:t>
            </a: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3B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風險:迭代緩慢,時程與成本不可控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1371600"/>
            <a:ext cx="5367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EDT HMI Studio:一條龍、免寫程式</a:t>
            </a:r>
            <a:endParaRPr lang="en-US" sz="16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同一件事,兩種代價</a:t>
            </a:r>
            <a:endParaRPr lang="en-US" sz="16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993392"/>
          <a:ext cx="5367528" cy="3392424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傳統工具鏈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EDT HMI Studio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所需技能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嵌入式 C/C++ 韌體工程師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不需寫任何程式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通訊協議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手寫解析與驅動,易錯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免寫程式,設定即完成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驗證方式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須等硬體到位才看得到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內建模擬器即時預覽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平台選擇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綁定單一晶片生態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多平台,硬體選擇自由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原型時程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數週至數月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一天完成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專案風險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時程、人力、整合風險高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趨近於零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548640" y="566928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685800" y="576072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35C4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原型速度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數週至數月 → 一天,風險趨近於零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370832" y="576072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35C4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研發成本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省去韌體團隊與反覆燒錄除錯的工時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8055864" y="576072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35C4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上市速度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更早試錯、更早量產,搶下時間差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5653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流程示意為 EDT 自繪,非任何廠商之產品畫面;STM32CubeIDE、TouchGFX Designer 為 STMicroelectronics 之產品名稱,僅作為傳統工具鏈的代表性例示。本頁為講者內部參考,不對外投影。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89720" y="384048"/>
            <a:ext cx="2450592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189720" y="38404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講者參考 ・ 不對外投影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B | 2026 年 9 月法人說明會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LVGL 支援硬體清單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3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EDT HMI Studio 以開源 LVGL 圖形引擎為基礎。LVGL 幾乎覆蓋所有主流 MCU/MPU 平台,客戶手上的既有硬體大多可直接使用 —— 這是鏟子適用面極廣、能切進過去觸及不到的 HMI 市場的底氣。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38528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晶片廠商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代表平台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合作深度與備註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NXP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i.MX RT 跨界 MCU、LPC、Kinetis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官方合作夥伴;MCUXpresso 一鍵整合,支援硬體加速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Renesas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RA、RX、RZ 家族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官方合作夥伴;內建 Dave2D GPU 支援與現成專案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Espressif(樂鑫)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ESP32 全系列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官方合作夥伴;元件管理器無縫整合顯示驅動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STMicroelectronics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STM32 F4/F7/H7/U5、STM32MP1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官方支援板卡與現成範例專案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Microchip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PIC32、SAM 系列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成熟社群移植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Infineon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PSoC、Traveo 系列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成熟社群移植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Texas Instruments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Sitara AM 系列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成熟社群移植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Nuvoton(新唐)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MA35、M46x/M48x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成熟社群移植;台系供應鏈選項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Raspberry Pi / RISC-V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RP2040、Pi 系列、各式 RISC-V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泛用移植;入門與原型開發常用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LVGL 以 C 語言撰寫、資源需求極低(數十 KB RAM 等級的 MCU 即可運行),幾乎不設硬體門檻。表列 IC 廠商既是生態系夥伴,也是 EDT HMI Studio 未來軟體授權的潛在客戶。完整且持續更新的清單見 lvgl.io/boards 與 lvgl.io/partners。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89720" y="384048"/>
            <a:ext cx="2450592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189720" y="38404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講者參考 ・ 不對外投影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C | 2026 年 9 月法人說明會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同業營收交叉比對與目標檢核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公司(市場)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商業模式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最新年營收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對照意涵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Qt Group(芬蘭上市)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嵌入式 GUI 軟體授權與訂閱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2025 年 €2.163 億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≈ 2.3 億美元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純軟體授權就是 2.3 億美元等級的生意;EDT 以免費鏟子瞄準其後方更大的硬體市場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Beijer Electronics(瑞典 Ependion 旗下)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HMI 操作面板硬體為主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 年 SEK 22.6 億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≈ 2.2 億美元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中型 HMI 專業廠的體量;EDT 2030 年目標僅約其三成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Weintek 威綸科技(台灣)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HMI 專業品牌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未上市,營收未公開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 HMI 品牌走向全球的成功前例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全台晶像 EDT(3038)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訂製顯示/觸控模組 + 免費軟體鏟子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2025 年新台幣 30.1 億元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(依慣例以台幣表述)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現有基礎;帶動目標另計於既有營收之上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224528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F2F6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5"/>
          <p:cNvSpPr txBox="1"/>
          <p:nvPr/>
        </p:nvSpPr>
        <p:spPr>
          <a:xfrm>
            <a:off x="868680" y="438912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三角檢核 → 原目標 14 億元偏保守,上修至 20 億元</a:t>
            </a:r>
            <a:endParaRPr lang="en-US" sz="1550" dirty="0"/>
          </a:p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333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市場規模法:2030 年全球 HMI 市場約 93–116 億美元,20 億元(≈ 6,500 萬美元)僅佔 0.5–0.7%。</a:t>
            </a:r>
            <a:endParaRPr lang="en-US" sz="1550" dirty="0"/>
          </a:p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333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同業體量法:6,500 萬美元約當 Beijer 與 Qt 年營收的三成上下,仍屬中型專業廠的零頭。</a:t>
            </a:r>
            <a:endParaRPr lang="en-US" sz="1550" dirty="0"/>
          </a:p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333B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自身基礎法:約當 2025 年營收的 66%,分五年達成,自低基期起算並不激進。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結論:2030 年帶動硬體營收目標由 14 億元上修至 20 億元,路徑 3 → 8 → 14 → 20 億元(第 2 頁已同步更新)。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資料來源:Qt Group 2025 年報(net sales €216.3M)、Ependion/Beijer Electronics(2024 年營收 SEK 22.6 億)、公開資訊觀測站。金額以美元計價,惟 EDT 自身營收依慣例以新台幣表述;匯率假設:1 歐元 ≈ 1.08 美元、1 瑞典克朗 ≈ 0.095 美元、1 美元 ≈ 新台幣 30 元,約當值僅供量級參考。本頁為講者內部參考,不對外投影。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1521</Words>
  <Application>Microsoft Office PowerPoint</Application>
  <PresentationFormat>寬螢幕</PresentationFormat>
  <Paragraphs>206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0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e30507</cp:lastModifiedBy>
  <cp:revision>2</cp:revision>
  <dcterms:created xsi:type="dcterms:W3CDTF">2026-09-03T09:29:29Z</dcterms:created>
  <dcterms:modified xsi:type="dcterms:W3CDTF">2026-09-03T10:58:34Z</dcterms:modified>
</cp:coreProperties>
</file>