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2e667fe8304a2d" /><Relationship Type="http://schemas.openxmlformats.org/officeDocument/2006/relationships/extended-properties" Target="/docProps/app.xml" Id="Raaecb152a1bb4249" /><Relationship Type="http://schemas.openxmlformats.org/officeDocument/2006/relationships/officeDocument" Target="/ppt/presentation.xml" Id="Raa7551bd07e6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2dae0c7ed94a1d"/>
  </p:sldMasterIdLst>
  <p:notesMasterIdLst>
    <p:notesMasterId xmlns:r="http://schemas.openxmlformats.org/officeDocument/2006/relationships" r:id="Re31159812a104750"/>
  </p:notesMasterIdLst>
  <p:sldIdLst>
    <p:sldId xmlns:r="http://schemas.openxmlformats.org/officeDocument/2006/relationships" id="256" r:id="R731db07b4e4748dd"/>
    <p:sldId xmlns:r="http://schemas.openxmlformats.org/officeDocument/2006/relationships" id="257" r:id="R5621812d39704375"/>
    <p:sldId xmlns:r="http://schemas.openxmlformats.org/officeDocument/2006/relationships" id="258" r:id="Ra74fe8dbe76748f8"/>
    <p:sldId xmlns:r="http://schemas.openxmlformats.org/officeDocument/2006/relationships" id="259" r:id="R44af0ee31c4d4805"/>
    <p:sldId xmlns:r="http://schemas.openxmlformats.org/officeDocument/2006/relationships" id="260" r:id="R584f9279bc1744f3"/>
    <p:sldId xmlns:r="http://schemas.openxmlformats.org/officeDocument/2006/relationships" id="261" r:id="Ra3fbb9e4f9894378"/>
    <p:sldId xmlns:r="http://schemas.openxmlformats.org/officeDocument/2006/relationships" id="262" r:id="Rbdd8939ca3634a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ec7bcf30d74754" /><Relationship Type="http://schemas.openxmlformats.org/officeDocument/2006/relationships/slideMaster" Target="/ppt/slideMasters/slideMaster1.xml" Id="R3a2dae0c7ed94a1d" /><Relationship Type="http://schemas.openxmlformats.org/officeDocument/2006/relationships/notesMaster" Target="/ppt/notesMasters/notesMaster1.xml" Id="Re31159812a104750" /><Relationship Type="http://schemas.openxmlformats.org/officeDocument/2006/relationships/presProps" Target="/ppt/presProps.xml" Id="Rc6002cb9e0b143ae" /><Relationship Type="http://schemas.openxmlformats.org/officeDocument/2006/relationships/tableStyles" Target="/ppt/tableStyles.xml" Id="R0004e2680e084e2b" /><Relationship Type="http://schemas.openxmlformats.org/officeDocument/2006/relationships/slide" Target="/ppt/slides/slide1.xml" Id="R731db07b4e4748dd" /><Relationship Type="http://schemas.openxmlformats.org/officeDocument/2006/relationships/slide" Target="/ppt/slides/slide2.xml" Id="R5621812d39704375" /><Relationship Type="http://schemas.openxmlformats.org/officeDocument/2006/relationships/slide" Target="/ppt/slides/slide3.xml" Id="Ra74fe8dbe76748f8" /><Relationship Type="http://schemas.openxmlformats.org/officeDocument/2006/relationships/slide" Target="/ppt/slides/slide4.xml" Id="R44af0ee31c4d4805" /><Relationship Type="http://schemas.openxmlformats.org/officeDocument/2006/relationships/slide" Target="/ppt/slides/slide5.xml" Id="R584f9279bc1744f3" /><Relationship Type="http://schemas.openxmlformats.org/officeDocument/2006/relationships/slide" Target="/ppt/slides/slide6.xml" Id="Ra3fbb9e4f9894378" /><Relationship Type="http://schemas.openxmlformats.org/officeDocument/2006/relationships/slide" Target="/ppt/slides/slide7.xml" Id="Rbdd8939ca3634a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a1226253794e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738f57dd724f9d" /><Relationship Type="http://schemas.openxmlformats.org/officeDocument/2006/relationships/notesMaster" Target="/ppt/notesMasters/notesMaster1.xml" Id="R4213d7295db042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de086cd9e14d3f" /><Relationship Type="http://schemas.openxmlformats.org/officeDocument/2006/relationships/notesMaster" Target="/ppt/notesMasters/notesMaster1.xml" Id="R4ecb3e613d5c47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73007a112a4b92" /><Relationship Type="http://schemas.openxmlformats.org/officeDocument/2006/relationships/notesMaster" Target="/ppt/notesMasters/notesMaster1.xml" Id="R3923425eedff45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422cbf516e43df" /><Relationship Type="http://schemas.openxmlformats.org/officeDocument/2006/relationships/notesMaster" Target="/ppt/notesMasters/notesMaster1.xml" Id="R9ca409d24d1b4d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39837cefe04a31" /><Relationship Type="http://schemas.openxmlformats.org/officeDocument/2006/relationships/notesMaster" Target="/ppt/notesMasters/notesMaster1.xml" Id="R7b26dc51533c4e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a1cda65d3b41c8" /><Relationship Type="http://schemas.openxmlformats.org/officeDocument/2006/relationships/notesMaster" Target="/ppt/notesMasters/notesMaster1.xml" Id="Rf991ba223f4d45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73fdfcdf144c6b" /><Relationship Type="http://schemas.openxmlformats.org/officeDocument/2006/relationships/notesMaster" Target="/ppt/notesMasters/notesMaster1.xml" Id="R73063fc875d547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本日は貴重なお時間をいただき、ありがとうございます。EDT HMI Studioは、組み込みHMIの設計、通信、検証、展開を、一つのプロジェクトでつなぐビジュアル開発環境です。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edt-hmi-studio/README.zh-TW.md (positioning and workflow)</a:t>
            </a:r>
          </a:p>
          <a:p xmlns:a="http://schemas.openxmlformats.org/drawingml/2006/main">
            <a:r>
              <a:t>- Asset: japanese/assets/hero-vivid.png; original edt-hmi-studio/docs/marketing/generator/hero-vivid.png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画面、ロジック、通信、ファームウェアが別々になると、受け渡しが増えます。統合上の問題が実機段階まで見えにくくなります。私たちが解決したいのは、この分断です。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edt-hmi-studio/README.zh-TW.md (separate capabilities brought into one product)</a:t>
            </a:r>
          </a:p>
          <a:p xmlns:a="http://schemas.openxmlformats.org/drawingml/2006/main">
            <a:r>
              <a:t>- Interpretation: workflow-fragmentation statement is a product hypothesis; no quantified customer outcome is claimed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まず画面を設計し、イベントとロジックを定義します。名前付きタグで機器通信を設定し、生成アプリケーションをEmulatorで動かします。最後に、対応ハードウェア向けにビルドして書き込みます。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edt-hmi-studio/README.zh-TW.md (design, logic, protocol, preview, code generation and deployment)</a:t>
            </a:r>
          </a:p>
          <a:p xmlns:a="http://schemas.openxmlformats.org/drawingml/2006/main">
            <a:r>
              <a:t>- Local: edt-hmi-studio/docs/preview-ladder.md (Emulator role)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Emulatorは単なる画面プレビューではありません。生成Cコードを実際のLVGLと一緒にコンパイルし、イベント、ロジック、シミュレーション通信を確認します。実機固有の条件は別途検証します。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edt-hmi-studio/docs/preview-ladder.md and server/emulator/ (generated C with real LVGL)</a:t>
            </a:r>
          </a:p>
          <a:p xmlns:a="http://schemas.openxmlformats.org/drawingml/2006/main">
            <a:r>
              <a:t>- Asset: japanese/assets/screenshots/shot-preview.png, earlier marketing screenshot; used as a labeled development example only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現在のソースには、25種類のコンポーネント、3つのボードプロファイルがあります。主な実装済みシリアル経路では、Modbus RTUと設定可能なシリアルコマンドを利用できます。数字は現在のソーススナップショットです。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edt-hmi-studio/src/utils/componentDefinitions.ts (25 palette types)</a:t>
            </a:r>
          </a:p>
          <a:p xmlns:a="http://schemas.openxmlformats.org/drawingml/2006/main">
            <a:r>
              <a:t>- Local: edt-hmi-studio/src/types/hmi.ts (three board profiles; Modbus RTU and serial-command connector capabilities)</a:t>
            </a:r>
          </a:p>
          <a:p xmlns:a="http://schemas.openxmlformats.org/drawingml/2006/main">
            <a:r>
              <a:t>- Snapshot: git HEAD a7cc2a88204b71a3480042b267b8d3cfa816c2ef on 2026-09-03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お客様への約束は、現在利用できるもの、構成ごとに確認するもの、将来候補に分けます。CANのタグ連携とEthernetは現在の製品機能として案内しません。商務条件は承認後に回答します。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edt-hmi-studio/src/types/hmi.ts (connector statuses and board-specific capabilities)</a:t>
            </a:r>
          </a:p>
          <a:p xmlns:a="http://schemas.openxmlformats.org/drawingml/2006/main">
            <a:r>
              <a:t>- Local: edt-hmi-studio/firmware/common/include/hmi_can.h (CAN signal-to-widget path not complete)</a:t>
            </a:r>
          </a:p>
          <a:p xmlns:a="http://schemas.openxmlformats.org/drawingml/2006/main">
            <a:r>
              <a:t>- Local: japanese/00_PRODUCT_TRUTH.md (commercial and release claim boundaries)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次のステップとして、対象機器を一つ、ボードを一つ、通信方式を一つ選びましょう。成功条件、担当者、期限を合意し、設計から実機までを一緒に検証することをご提案します。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japanese/01_MESSAGE_HOUSE.md (recommended evaluation call to action)</a:t>
            </a:r>
          </a:p>
          <a:p xmlns:a="http://schemas.openxmlformats.org/drawingml/2006/main">
            <a:r>
              <a:t>- No external asset or quantitative claim on this slide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4a487b37848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002176c9e24f5c" /><Relationship Type="http://schemas.openxmlformats.org/officeDocument/2006/relationships/slideLayout" Target="/ppt/slideLayouts/slideLayout1.xml" Id="R571f340a5b4042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1f340a5b4042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6b6a4a5c948b0" /><Relationship Type="http://schemas.openxmlformats.org/officeDocument/2006/relationships/image" Target="/ppt/media/image.png" Id="R793c80844d564a40" /><Relationship Type="http://schemas.openxmlformats.org/officeDocument/2006/relationships/notesSlide" Target="/ppt/notesSlides/notesSlide1.xml" Id="R91b6cc0087ec46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929b880904e59" /><Relationship Type="http://schemas.openxmlformats.org/officeDocument/2006/relationships/notesSlide" Target="/ppt/notesSlides/notesSlide2.xml" Id="Rb9a11af37b984e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c6b3e089a4a5c" /><Relationship Type="http://schemas.openxmlformats.org/officeDocument/2006/relationships/notesSlide" Target="/ppt/notesSlides/notesSlide3.xml" Id="Rdcf47c9016d1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901a5be29494f" /><Relationship Type="http://schemas.openxmlformats.org/officeDocument/2006/relationships/image" Target="/ppt/media/image2.png" Id="R3e4cad96ef19498b" /><Relationship Type="http://schemas.openxmlformats.org/officeDocument/2006/relationships/notesSlide" Target="/ppt/notesSlides/notesSlide4.xml" Id="R95ae3a8367164c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6a12f137f4e24" /><Relationship Type="http://schemas.openxmlformats.org/officeDocument/2006/relationships/notesSlide" Target="/ppt/notesSlides/notesSlide5.xml" Id="Rb4d9ce024ae24a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abf4a9be84fd9" /><Relationship Type="http://schemas.openxmlformats.org/officeDocument/2006/relationships/notesSlide" Target="/ppt/notesSlides/notesSlide6.xml" Id="R836b145c9d1643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749e3756c74745" /><Relationship Type="http://schemas.openxmlformats.org/officeDocument/2006/relationships/notesSlide" Target="/ppt/notesSlides/notesSlide7.xml" Id="Rb26ad5a7e82340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912EBE11-5399-4CE5-BEF8-E2A5E862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EDT HMI Studio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2F7352A-1A5C-4D10-8717-BB975DE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5619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4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4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組み込みHMI開発を、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4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48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一つの流れに。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3249C32-F977-4CA3-8BD1-32DE031D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設計・通信・検証・展開を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同じプロジェクトでつなぐ</a:t>
            </a:r>
          </a:p>
        </p:txBody>
      </p:sp>
      <p:sp>
        <p:nvSpPr>
          <p:cNvPr id="4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D90B9D9-220A-4C0B-BBF8-47C45102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Executive Briefing  |  2026.09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c80844d564a40"/>
          <a:stretch xmlns:a="http://schemas.openxmlformats.org/drawingml/2006/main"/>
        </p:blipFill>
        <p:spPr>
          <a:xfrm xmlns:a="http://schemas.openxmlformats.org/drawingml/2006/main">
            <a:off x="6400800" y="1099386"/>
            <a:ext cx="5238750" cy="44115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85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2601F075-0A17-4970-801D-AAEE6936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問題は、機能不足より工程の分断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EBF148E-B06C-43BE-87F5-818B317A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3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A504D6E7-EB7B-48CF-9ED1-9B5056C4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statement">
            <a:extLst xmlns:a="http://schemas.openxmlformats.org/drawingml/2006/main">
              <a:ext uri="{FF2B5EF4-FFF2-40B4-BE49-F238E27FC236}">
                <a16:creationId xmlns:a16="http://schemas.microsoft.com/office/drawing/2014/main" id="{BE6A2BBB-46D8-4204-9F6C-4C23C913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4095750" cy="369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43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画面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43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ロジック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43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通信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43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43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ファームウェア</a:t>
            </a:r>
          </a:p>
        </p:txBody>
      </p:sp>
      <p:sp>
        <p:nvSpPr>
          <p:cNvPr id="5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A5CD7564-8CEB-493B-918B-41860A2A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consequence">
            <a:extLst xmlns:a="http://schemas.openxmlformats.org/drawingml/2006/main">
              <a:ext uri="{FF2B5EF4-FFF2-40B4-BE49-F238E27FC236}">
                <a16:creationId xmlns:a16="http://schemas.microsoft.com/office/drawing/2014/main" id="{BDF81CD0-8468-423B-B0BD-B6A2E3B9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51435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別々の担当者とツール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受け渡しが増える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統合上の問題が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実機段階まで見えにくい</a:t>
            </a:r>
          </a:p>
        </p:txBody>
      </p:sp>
      <p:sp>
        <p:nvSpPr>
          <p:cNvPr id="7" name="problem-footer">
            <a:extLst xmlns:a="http://schemas.openxmlformats.org/drawingml/2006/main">
              <a:ext uri="{FF2B5EF4-FFF2-40B4-BE49-F238E27FC236}">
                <a16:creationId xmlns:a16="http://schemas.microsoft.com/office/drawing/2014/main" id="{49986145-FAE3-40F0-9418-6143BC53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483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解決したいのは、工程間の分断です。</a:t>
            </a:r>
          </a:p>
        </p:txBody>
      </p:sp>
    </p:spTree>
    <p:extLst>
      <p:ext uri="{BB962C8B-B14F-4D97-AF65-F5344CB8AC3E}">
        <p14:creationId xmlns:p14="http://schemas.microsoft.com/office/powerpoint/2010/main" val="1192954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306DE32-9756-447A-8234-BA074007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五つの作業を、同じプロジェクトで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22237708-9D29-486D-A43A-5C69728A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3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6EB9BE03-0581-4E37-809A-61F8F08C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1CE348FD-F0A7-4C89-B32D-DFC17BE9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対応範囲では、アプリケーションコードから始める必要はありません。</a:t>
            </a:r>
          </a:p>
        </p:txBody>
      </p:sp>
      <p:sp>
        <p:nvSpPr>
          <p:cNvPr id="5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5AA1E384-E677-4BEF-93A1-2B85B820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575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7929BC7B-9175-4799-BC8E-0CA4CFCB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956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kflow-node-number-1">
            <a:extLst xmlns:a="http://schemas.openxmlformats.org/drawingml/2006/main">
              <a:ext uri="{FF2B5EF4-FFF2-40B4-BE49-F238E27FC236}">
                <a16:creationId xmlns:a16="http://schemas.microsoft.com/office/drawing/2014/main" id="{4D21C8FC-44F0-4F69-84B8-9009166A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8" name="workflow-label-1">
            <a:extLst xmlns:a="http://schemas.openxmlformats.org/drawingml/2006/main">
              <a:ext uri="{FF2B5EF4-FFF2-40B4-BE49-F238E27FC236}">
                <a16:creationId xmlns:a16="http://schemas.microsoft.com/office/drawing/2014/main" id="{74CB2CC3-64C2-4363-B411-4644C622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画面設計</a:t>
            </a:r>
          </a:p>
        </p:txBody>
      </p:sp>
      <p:sp>
        <p:nvSpPr>
          <p:cNvPr id="9" name="workflow-sub-1">
            <a:extLst xmlns:a="http://schemas.openxmlformats.org/drawingml/2006/main">
              <a:ext uri="{FF2B5EF4-FFF2-40B4-BE49-F238E27FC236}">
                <a16:creationId xmlns:a16="http://schemas.microsoft.com/office/drawing/2014/main" id="{36BDB293-C8A5-40ED-8608-4D53E277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Design</a:t>
            </a:r>
          </a:p>
        </p:txBody>
      </p:sp>
      <p:sp>
        <p:nvSpPr>
          <p:cNvPr id="10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00C7D429-AF3A-456F-8B76-CCCF9306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956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kflow-node-number-2">
            <a:extLst xmlns:a="http://schemas.openxmlformats.org/drawingml/2006/main">
              <a:ext uri="{FF2B5EF4-FFF2-40B4-BE49-F238E27FC236}">
                <a16:creationId xmlns:a16="http://schemas.microsoft.com/office/drawing/2014/main" id="{D655FD4B-6211-468E-80FF-60392A26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4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2" name="workflow-label-2">
            <a:extLst xmlns:a="http://schemas.openxmlformats.org/drawingml/2006/main">
              <a:ext uri="{FF2B5EF4-FFF2-40B4-BE49-F238E27FC236}">
                <a16:creationId xmlns:a16="http://schemas.microsoft.com/office/drawing/2014/main" id="{4D3392D3-A223-41B6-83F7-14B25163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433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ロジック</a:t>
            </a:r>
          </a:p>
        </p:txBody>
      </p:sp>
      <p:sp>
        <p:nvSpPr>
          <p:cNvPr id="13" name="workflow-sub-2">
            <a:extLst xmlns:a="http://schemas.openxmlformats.org/drawingml/2006/main">
              <a:ext uri="{FF2B5EF4-FFF2-40B4-BE49-F238E27FC236}">
                <a16:creationId xmlns:a16="http://schemas.microsoft.com/office/drawing/2014/main" id="{D495B143-98C5-4D5D-9FE8-7D5EF264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767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Events / Nodes</a:t>
            </a:r>
          </a:p>
        </p:txBody>
      </p:sp>
      <p:sp>
        <p:nvSpPr>
          <p:cNvPr id="14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6257ABA2-A1D4-4106-8ED7-6C23FB8F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orkflow-node-number-3">
            <a:extLst xmlns:a="http://schemas.openxmlformats.org/drawingml/2006/main">
              <a:ext uri="{FF2B5EF4-FFF2-40B4-BE49-F238E27FC236}">
                <a16:creationId xmlns:a16="http://schemas.microsoft.com/office/drawing/2014/main" id="{26492142-634A-4DB9-853D-320CF7F6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6" name="workflow-label-3">
            <a:extLst xmlns:a="http://schemas.openxmlformats.org/drawingml/2006/main">
              <a:ext uri="{FF2B5EF4-FFF2-40B4-BE49-F238E27FC236}">
                <a16:creationId xmlns:a16="http://schemas.microsoft.com/office/drawing/2014/main" id="{0CE7714B-1AB6-4B4D-8234-17D4B626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433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機器通信</a:t>
            </a:r>
          </a:p>
        </p:txBody>
      </p:sp>
      <p:sp>
        <p:nvSpPr>
          <p:cNvPr id="17" name="workflow-sub-3">
            <a:extLst xmlns:a="http://schemas.openxmlformats.org/drawingml/2006/main">
              <a:ext uri="{FF2B5EF4-FFF2-40B4-BE49-F238E27FC236}">
                <a16:creationId xmlns:a16="http://schemas.microsoft.com/office/drawing/2014/main" id="{F7494231-62D8-4B4A-9221-7D9C57DF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Tags / Protocol</a:t>
            </a:r>
          </a:p>
        </p:txBody>
      </p:sp>
      <p:sp>
        <p:nvSpPr>
          <p:cNvPr id="18" name="workflow-node-4">
            <a:extLst xmlns:a="http://schemas.openxmlformats.org/drawingml/2006/main">
              <a:ext uri="{FF2B5EF4-FFF2-40B4-BE49-F238E27FC236}">
                <a16:creationId xmlns:a16="http://schemas.microsoft.com/office/drawing/2014/main" id="{495086F7-6615-4203-9F16-9F85B139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orkflow-node-number-4">
            <a:extLst xmlns:a="http://schemas.openxmlformats.org/drawingml/2006/main">
              <a:ext uri="{FF2B5EF4-FFF2-40B4-BE49-F238E27FC236}">
                <a16:creationId xmlns:a16="http://schemas.microsoft.com/office/drawing/2014/main" id="{110CBD28-F3A5-48EC-A29E-802DAFB3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0" name="workflow-label-4">
            <a:extLst xmlns:a="http://schemas.openxmlformats.org/drawingml/2006/main">
              <a:ext uri="{FF2B5EF4-FFF2-40B4-BE49-F238E27FC236}">
                <a16:creationId xmlns:a16="http://schemas.microsoft.com/office/drawing/2014/main" id="{26A266CD-F752-48D5-A066-FB79A9B0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433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Emulator</a:t>
            </a:r>
          </a:p>
        </p:txBody>
      </p:sp>
      <p:sp>
        <p:nvSpPr>
          <p:cNvPr id="21" name="workflow-sub-4">
            <a:extLst xmlns:a="http://schemas.openxmlformats.org/drawingml/2006/main">
              <a:ext uri="{FF2B5EF4-FFF2-40B4-BE49-F238E27FC236}">
                <a16:creationId xmlns:a16="http://schemas.microsoft.com/office/drawing/2014/main" id="{507D64A0-9CBA-489A-A504-676C233C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生成Cを検証</a:t>
            </a:r>
          </a:p>
        </p:txBody>
      </p:sp>
      <p:sp>
        <p:nvSpPr>
          <p:cNvPr id="22" name="workflow-node-5">
            <a:extLst xmlns:a="http://schemas.openxmlformats.org/drawingml/2006/main">
              <a:ext uri="{FF2B5EF4-FFF2-40B4-BE49-F238E27FC236}">
                <a16:creationId xmlns:a16="http://schemas.microsoft.com/office/drawing/2014/main" id="{CC85FC3E-102D-4D56-867F-C96C3D48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orkflow-node-number-5">
            <a:extLst xmlns:a="http://schemas.openxmlformats.org/drawingml/2006/main">
              <a:ext uri="{FF2B5EF4-FFF2-40B4-BE49-F238E27FC236}">
                <a16:creationId xmlns:a16="http://schemas.microsoft.com/office/drawing/2014/main" id="{87D4916B-1CBE-4EC1-9FD5-C83A43D8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4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24" name="workflow-label-5">
            <a:extLst xmlns:a="http://schemas.openxmlformats.org/drawingml/2006/main">
              <a:ext uri="{FF2B5EF4-FFF2-40B4-BE49-F238E27FC236}">
                <a16:creationId xmlns:a16="http://schemas.microsoft.com/office/drawing/2014/main" id="{3C2F88CF-93D6-437D-9AF0-F8DF6B87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43350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Build / Flash</a:t>
            </a:r>
          </a:p>
        </p:txBody>
      </p:sp>
      <p:sp>
        <p:nvSpPr>
          <p:cNvPr id="25" name="workflow-sub-5">
            <a:extLst xmlns:a="http://schemas.openxmlformats.org/drawingml/2006/main">
              <a:ext uri="{FF2B5EF4-FFF2-40B4-BE49-F238E27FC236}">
                <a16:creationId xmlns:a16="http://schemas.microsoft.com/office/drawing/2014/main" id="{CE290535-8A89-405E-97BB-3E6F580A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4767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対応ハードへ</a:t>
            </a:r>
          </a:p>
        </p:txBody>
      </p:sp>
      <p:sp>
        <p:nvSpPr>
          <p:cNvPr id="26" name="workflow-footer">
            <a:extLst xmlns:a="http://schemas.openxmlformats.org/drawingml/2006/main">
              <a:ext uri="{FF2B5EF4-FFF2-40B4-BE49-F238E27FC236}">
                <a16:creationId xmlns:a16="http://schemas.microsoft.com/office/drawing/2014/main" id="{B59D4521-D825-4A73-9CFD-425EA78A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76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一つのプロジェクト  ×  名前付きタグ  ×  同じ生成アプリケーション</a:t>
            </a:r>
          </a:p>
        </p:txBody>
      </p:sp>
    </p:spTree>
    <p:extLst>
      <p:ext uri="{BB962C8B-B14F-4D97-AF65-F5344CB8AC3E}">
        <p14:creationId xmlns:p14="http://schemas.microsoft.com/office/powerpoint/2010/main" val="1811034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532A133-0A08-4D31-9585-B58BB949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実機の前に、生成コードを動かす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0D1B3AB8-4059-4BF0-9A67-0E6D016F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3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6A1C74BD-DBB7-4D4D-9213-BD09F3FC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cad96ef19498b"/>
          <a:stretch xmlns:a="http://schemas.openxmlformats.org/drawingml/2006/main"/>
        </p:blipFill>
        <p:spPr>
          <a:xfrm xmlns:a="http://schemas.openxmlformats.org/drawingml/2006/main">
            <a:off x="514350" y="1584722"/>
            <a:ext cx="5810250" cy="3631406"/>
          </a:xfrm>
          <a:prstGeom xmlns:a="http://schemas.openxmlformats.org/drawingml/2006/main" prst="rect">
            <a:avLst/>
          </a:prstGeom>
        </p:spPr>
      </p:pic>
      <p:sp>
        <p:nvSpPr>
          <p:cNvPr id="5" name="emulator-claim">
            <a:extLst xmlns:a="http://schemas.openxmlformats.org/drawingml/2006/main">
              <a:ext uri="{FF2B5EF4-FFF2-40B4-BE49-F238E27FC236}">
                <a16:creationId xmlns:a16="http://schemas.microsoft.com/office/drawing/2014/main" id="{A74C1A8A-FDBA-4686-9CEE-F3C114DD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57350"/>
            <a:ext cx="4762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静的な画面ではなく、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1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生成Cコードを動かす。</a:t>
            </a:r>
          </a:p>
        </p:txBody>
      </p:sp>
      <p:sp>
        <p:nvSpPr>
          <p:cNvPr id="6" name="emulator-proof">
            <a:extLst xmlns:a="http://schemas.openxmlformats.org/drawingml/2006/main">
              <a:ext uri="{FF2B5EF4-FFF2-40B4-BE49-F238E27FC236}">
                <a16:creationId xmlns:a16="http://schemas.microsoft.com/office/drawing/2014/main" id="{FD69B427-AB27-4B87-ACFF-9D51DA3B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4572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イベント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ロジック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機器通信のシミュレーション</a:t>
            </a:r>
          </a:p>
        </p:txBody>
      </p:sp>
      <p:sp>
        <p:nvSpPr>
          <p:cNvPr id="7" name="emulator-rule">
            <a:extLst xmlns:a="http://schemas.openxmlformats.org/drawingml/2006/main">
              <a:ext uri="{FF2B5EF4-FFF2-40B4-BE49-F238E27FC236}">
                <a16:creationId xmlns:a16="http://schemas.microsoft.com/office/drawing/2014/main" id="{D168FD1C-8DDA-4C63-87BA-657EC264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197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mulator-boundary">
            <a:extLst xmlns:a="http://schemas.openxmlformats.org/drawingml/2006/main">
              <a:ext uri="{FF2B5EF4-FFF2-40B4-BE49-F238E27FC236}">
                <a16:creationId xmlns:a16="http://schemas.microsoft.com/office/drawing/2014/main" id="{AF3471BD-A419-4973-961F-876A00AE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429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46A3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46A3A"/>
                </a:solidFill>
                <a:latin typeface="Noto Sans JP"/>
                <a:ea typeface="Noto Sans JP"/>
                <a:cs typeface="Noto Sans JP"/>
              </a:rPr>
              <a:t>実機メモリー・性能・物理バスは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E46A3A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E46A3A"/>
                </a:solidFill>
                <a:latin typeface="Noto Sans JP"/>
                <a:ea typeface="Noto Sans JP"/>
                <a:cs typeface="Noto Sans JP"/>
              </a:rPr>
              <a:t>別途、対象ハードウェアで検証</a:t>
            </a:r>
          </a:p>
        </p:txBody>
      </p:sp>
      <p:sp>
        <p:nvSpPr>
          <p:cNvPr id="9" name="emulator-image-label">
            <a:extLst xmlns:a="http://schemas.openxmlformats.org/drawingml/2006/main">
              <a:ext uri="{FF2B5EF4-FFF2-40B4-BE49-F238E27FC236}">
                <a16:creationId xmlns:a16="http://schemas.microsoft.com/office/drawing/2014/main" id="{C0D998D0-0B99-462B-9A90-023D2681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画面例（開発中／現在のUIとは一部異なります）</a:t>
            </a:r>
          </a:p>
        </p:txBody>
      </p:sp>
    </p:spTree>
    <p:extLst>
      <p:ext uri="{BB962C8B-B14F-4D97-AF65-F5344CB8AC3E}">
        <p14:creationId xmlns:p14="http://schemas.microsoft.com/office/powerpoint/2010/main" val="6161556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FF0D4BFD-2431-40B2-B152-BD81BF58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現在のソースで確認できる範囲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8D0D1A19-956C-4DB7-A542-72E007F2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3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C2D04E60-D5C4-4129-8771-4C5A0C83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ope-number-1">
            <a:extLst xmlns:a="http://schemas.openxmlformats.org/drawingml/2006/main">
              <a:ext uri="{FF2B5EF4-FFF2-40B4-BE49-F238E27FC236}">
                <a16:creationId xmlns:a16="http://schemas.microsoft.com/office/drawing/2014/main" id="{55D811A0-6B92-4A3A-9CB5-AF9E5467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762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69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25</a:t>
            </a:r>
          </a:p>
        </p:txBody>
      </p:sp>
      <p:sp>
        <p:nvSpPr>
          <p:cNvPr id="5" name="scope-head-1">
            <a:extLst xmlns:a="http://schemas.openxmlformats.org/drawingml/2006/main">
              <a:ext uri="{FF2B5EF4-FFF2-40B4-BE49-F238E27FC236}">
                <a16:creationId xmlns:a16="http://schemas.microsoft.com/office/drawing/2014/main" id="{20E3C55A-F08D-45EC-B3D6-7F72E248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コンポーネント</a:t>
            </a:r>
          </a:p>
        </p:txBody>
      </p:sp>
      <p:sp>
        <p:nvSpPr>
          <p:cNvPr id="6" name="scope-detail-1">
            <a:extLst xmlns:a="http://schemas.openxmlformats.org/drawingml/2006/main">
              <a:ext uri="{FF2B5EF4-FFF2-40B4-BE49-F238E27FC236}">
                <a16:creationId xmlns:a16="http://schemas.microsoft.com/office/drawing/2014/main" id="{028879F5-E056-4707-B0F0-ADE65D9F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Design palette</a:t>
            </a:r>
          </a:p>
        </p:txBody>
      </p:sp>
      <p:sp>
        <p:nvSpPr>
          <p:cNvPr id="7" name="scope-number-2">
            <a:extLst xmlns:a="http://schemas.openxmlformats.org/drawingml/2006/main">
              <a:ext uri="{FF2B5EF4-FFF2-40B4-BE49-F238E27FC236}">
                <a16:creationId xmlns:a16="http://schemas.microsoft.com/office/drawing/2014/main" id="{6C4D4965-D1A1-4C6C-8C9F-05A60B41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2762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69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8" name="scope-head-2">
            <a:extLst xmlns:a="http://schemas.openxmlformats.org/drawingml/2006/main">
              <a:ext uri="{FF2B5EF4-FFF2-40B4-BE49-F238E27FC236}">
                <a16:creationId xmlns:a16="http://schemas.microsoft.com/office/drawing/2014/main" id="{96DACD03-6C12-429B-AA34-FBDDB254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33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ボードプロファイル</a:t>
            </a:r>
          </a:p>
        </p:txBody>
      </p:sp>
      <p:sp>
        <p:nvSpPr>
          <p:cNvPr id="9" name="scope-detail-2">
            <a:extLst xmlns:a="http://schemas.openxmlformats.org/drawingml/2006/main">
              <a:ext uri="{FF2B5EF4-FFF2-40B4-BE49-F238E27FC236}">
                <a16:creationId xmlns:a16="http://schemas.microsoft.com/office/drawing/2014/main" id="{37FA884B-AC7F-4B4E-BBFD-16F40F13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4335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F746 / H747 / EDT EVK</a:t>
            </a:r>
          </a:p>
        </p:txBody>
      </p:sp>
      <p:sp>
        <p:nvSpPr>
          <p:cNvPr id="10" name="scope-number-3">
            <a:extLst xmlns:a="http://schemas.openxmlformats.org/drawingml/2006/main">
              <a:ext uri="{FF2B5EF4-FFF2-40B4-BE49-F238E27FC236}">
                <a16:creationId xmlns:a16="http://schemas.microsoft.com/office/drawing/2014/main" id="{7791168F-4FE4-4EB8-87CA-19183F1D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47850"/>
            <a:ext cx="2762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9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69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1" name="scope-head-3">
            <a:extLst xmlns:a="http://schemas.openxmlformats.org/drawingml/2006/main">
              <a:ext uri="{FF2B5EF4-FFF2-40B4-BE49-F238E27FC236}">
                <a16:creationId xmlns:a16="http://schemas.microsoft.com/office/drawing/2014/main" id="{F40042AD-E92C-41D9-A55B-8AE19247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337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主なSerial方式</a:t>
            </a:r>
          </a:p>
        </p:txBody>
      </p:sp>
      <p:sp>
        <p:nvSpPr>
          <p:cNvPr id="12" name="scope-detail-3">
            <a:extLst xmlns:a="http://schemas.openxmlformats.org/drawingml/2006/main">
              <a:ext uri="{FF2B5EF4-FFF2-40B4-BE49-F238E27FC236}">
                <a16:creationId xmlns:a16="http://schemas.microsoft.com/office/drawing/2014/main" id="{D3576F6E-BF7E-4028-AC7F-DFAC2FF2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43350"/>
            <a:ext cx="304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Modbus RTU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Serial commands</a:t>
            </a:r>
          </a:p>
        </p:txBody>
      </p:sp>
      <p:sp>
        <p:nvSpPr>
          <p:cNvPr id="13" name="scope-bottom-rule">
            <a:extLst xmlns:a="http://schemas.openxmlformats.org/drawingml/2006/main">
              <a:ext uri="{FF2B5EF4-FFF2-40B4-BE49-F238E27FC236}">
                <a16:creationId xmlns:a16="http://schemas.microsoft.com/office/drawing/2014/main" id="{EBEE9695-E4AA-4A45-A7AC-DD776C1E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ope-capabilities">
            <a:extLst xmlns:a="http://schemas.openxmlformats.org/drawingml/2006/main">
              <a:ext uri="{FF2B5EF4-FFF2-40B4-BE49-F238E27FC236}">
                <a16:creationId xmlns:a16="http://schemas.microsoft.com/office/drawing/2014/main" id="{8F70C978-B663-431B-BBA5-BC165206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複数画面  ・  アニメーション  ・  多言語  ・  タグ連携</a:t>
            </a:r>
          </a:p>
        </p:txBody>
      </p:sp>
      <p:sp>
        <p:nvSpPr>
          <p:cNvPr id="15" name="scope-snapshot">
            <a:extLst xmlns:a="http://schemas.openxmlformats.org/drawingml/2006/main">
              <a:ext uri="{FF2B5EF4-FFF2-40B4-BE49-F238E27FC236}">
                <a16:creationId xmlns:a16="http://schemas.microsoft.com/office/drawing/2014/main" id="{BE992A9D-DCB1-42B7-BB5F-EDBF4284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91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Source snapshot: a7cc2a8  |  2026-09-03</a:t>
            </a:r>
          </a:p>
        </p:txBody>
      </p:sp>
    </p:spTree>
    <p:extLst>
      <p:ext uri="{BB962C8B-B14F-4D97-AF65-F5344CB8AC3E}">
        <p14:creationId xmlns:p14="http://schemas.microsoft.com/office/powerpoint/2010/main" val="9072445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CAFC470-AFD2-4D39-A882-90189FA9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現在・要確認・将来を分けて伝える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8D92A388-D5E0-4AB5-B9C5-0BC795CF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3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B5F80D02-2282-4FA9-9C8B-C8818FC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oundary-bar-1">
            <a:extLst xmlns:a="http://schemas.openxmlformats.org/drawingml/2006/main">
              <a:ext uri="{FF2B5EF4-FFF2-40B4-BE49-F238E27FC236}">
                <a16:creationId xmlns:a16="http://schemas.microsoft.com/office/drawing/2014/main" id="{279C222C-F726-4124-9863-DA9DBE3E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95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oundary-head-1">
            <a:extLst xmlns:a="http://schemas.openxmlformats.org/drawingml/2006/main">
              <a:ext uri="{FF2B5EF4-FFF2-40B4-BE49-F238E27FC236}">
                <a16:creationId xmlns:a16="http://schemas.microsoft.com/office/drawing/2014/main" id="{81DFDD93-F86D-4E2C-A6D9-57D92D6B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現在</a:t>
            </a:r>
          </a:p>
        </p:txBody>
      </p:sp>
      <p:sp>
        <p:nvSpPr>
          <p:cNvPr id="6" name="boundary-body-1">
            <a:extLst xmlns:a="http://schemas.openxmlformats.org/drawingml/2006/main">
              <a:ext uri="{FF2B5EF4-FFF2-40B4-BE49-F238E27FC236}">
                <a16:creationId xmlns:a16="http://schemas.microsoft.com/office/drawing/2014/main" id="{87145F00-7E4C-4466-9131-24195882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画面・ロジック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Modbus RTU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Serial commands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Emulator / Deploy※</a:t>
            </a:r>
          </a:p>
        </p:txBody>
      </p:sp>
      <p:sp>
        <p:nvSpPr>
          <p:cNvPr id="7" name="boundary-bar-2">
            <a:extLst xmlns:a="http://schemas.openxmlformats.org/drawingml/2006/main">
              <a:ext uri="{FF2B5EF4-FFF2-40B4-BE49-F238E27FC236}">
                <a16:creationId xmlns:a16="http://schemas.microsoft.com/office/drawing/2014/main" id="{2519DC9E-4BAF-4D27-B935-ACDA9EC04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14500"/>
            <a:ext cx="295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head-2">
            <a:extLst xmlns:a="http://schemas.openxmlformats.org/drawingml/2006/main">
              <a:ext uri="{FF2B5EF4-FFF2-40B4-BE49-F238E27FC236}">
                <a16:creationId xmlns:a16="http://schemas.microsoft.com/office/drawing/2014/main" id="{D6580E10-C7D3-46C3-BE2A-182405A5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構成ごとに確認</a:t>
            </a:r>
          </a:p>
        </p:txBody>
      </p:sp>
      <p:sp>
        <p:nvSpPr>
          <p:cNvPr id="9" name="boundary-body-2">
            <a:extLst xmlns:a="http://schemas.openxmlformats.org/drawingml/2006/main">
              <a:ext uri="{FF2B5EF4-FFF2-40B4-BE49-F238E27FC236}">
                <a16:creationId xmlns:a16="http://schemas.microsoft.com/office/drawing/2014/main" id="{D052C5B0-B0A2-450B-828D-5A7585E7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対象ボード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ツールチェーン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実機性能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AI運用条件</a:t>
            </a:r>
          </a:p>
        </p:txBody>
      </p:sp>
      <p:sp>
        <p:nvSpPr>
          <p:cNvPr id="10" name="boundary-bar-3">
            <a:extLst xmlns:a="http://schemas.openxmlformats.org/drawingml/2006/main">
              <a:ext uri="{FF2B5EF4-FFF2-40B4-BE49-F238E27FC236}">
                <a16:creationId xmlns:a16="http://schemas.microsoft.com/office/drawing/2014/main" id="{B21F0DBD-02E0-479A-ADC5-B8028C7E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295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undary-head-3">
            <a:extLst xmlns:a="http://schemas.openxmlformats.org/drawingml/2006/main">
              <a:ext uri="{FF2B5EF4-FFF2-40B4-BE49-F238E27FC236}">
                <a16:creationId xmlns:a16="http://schemas.microsoft.com/office/drawing/2014/main" id="{42D973B7-2241-4C66-94A7-E7C5DEE3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E46A3A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E46A3A"/>
                </a:solidFill>
                <a:latin typeface="Noto Sans JP"/>
                <a:ea typeface="Noto Sans JP"/>
                <a:cs typeface="Noto Sans JP"/>
              </a:rPr>
              <a:t>現在は約束しない</a:t>
            </a:r>
          </a:p>
        </p:txBody>
      </p:sp>
      <p:sp>
        <p:nvSpPr>
          <p:cNvPr id="12" name="boundary-body-3">
            <a:extLst xmlns:a="http://schemas.openxmlformats.org/drawingml/2006/main">
              <a:ext uri="{FF2B5EF4-FFF2-40B4-BE49-F238E27FC236}">
                <a16:creationId xmlns:a16="http://schemas.microsoft.com/office/drawing/2014/main" id="{0ED56549-222A-4DE3-B6AE-0CAF7280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CANのタグ連携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Ethernet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任意ボード対応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未承認の商務条件</a:t>
            </a:r>
          </a:p>
        </p:txBody>
      </p:sp>
      <p:sp>
        <p:nvSpPr>
          <p:cNvPr id="13" name="boundary-footer-rule">
            <a:extLst xmlns:a="http://schemas.openxmlformats.org/drawingml/2006/main">
              <a:ext uri="{FF2B5EF4-FFF2-40B4-BE49-F238E27FC236}">
                <a16:creationId xmlns:a16="http://schemas.microsoft.com/office/drawing/2014/main" id="{A7D3DCEF-84BF-4AC8-A05A-6390BFA5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oundary-footer">
            <a:extLst xmlns:a="http://schemas.openxmlformats.org/drawingml/2006/main">
              <a:ext uri="{FF2B5EF4-FFF2-40B4-BE49-F238E27FC236}">
                <a16:creationId xmlns:a16="http://schemas.microsoft.com/office/drawing/2014/main" id="{B1F5E038-4C31-4FC7-BBDD-81DF61B9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626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価格・ライセンス・GA・SLA・地域独占 ＝ 社内承認後に正式回答</a:t>
            </a:r>
          </a:p>
        </p:txBody>
      </p:sp>
      <p:sp>
        <p:nvSpPr>
          <p:cNvPr id="15" name="boundary-footnote">
            <a:extLst xmlns:a="http://schemas.openxmlformats.org/drawingml/2006/main">
              <a:ext uri="{FF2B5EF4-FFF2-40B4-BE49-F238E27FC236}">
                <a16:creationId xmlns:a16="http://schemas.microsoft.com/office/drawing/2014/main" id="{CB88FE16-017C-468D-BE77-3E3F5C02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103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※対応ボードとローカル環境の準備が前提</a:t>
            </a:r>
          </a:p>
        </p:txBody>
      </p:sp>
    </p:spTree>
    <p:extLst>
      <p:ext uri="{BB962C8B-B14F-4D97-AF65-F5344CB8AC3E}">
        <p14:creationId xmlns:p14="http://schemas.microsoft.com/office/powerpoint/2010/main" val="16626464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A570BAB4-BCBA-439E-A2F0-A57787E6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3D8DFF"/>
                </a:solidFill>
                <a:latin typeface="Noto Sans JP"/>
                <a:ea typeface="Noto Sans JP"/>
                <a:cs typeface="Noto Sans JP"/>
              </a:rPr>
              <a:t>NEXT STEP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FF94063-3892-4485-B5C8-8BC7EB2A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8953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9000"/>
              </a:lnSpc>
              <a:buNone/>
              <a:defRPr sz="57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57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一つの用途を、</a:t>
            </a:r>
          </a:p>
          <a:p xmlns:a="http://schemas.openxmlformats.org/drawingml/2006/main">
            <a:pPr algn="l">
              <a:lnSpc>
                <a:spcPct val="89000"/>
              </a:lnSpc>
              <a:buNone/>
              <a:defRPr sz="57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57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エンドツーエンドで</a:t>
            </a:r>
          </a:p>
          <a:p xmlns:a="http://schemas.openxmlformats.org/drawingml/2006/main">
            <a:pPr algn="l">
              <a:lnSpc>
                <a:spcPct val="89000"/>
              </a:lnSpc>
              <a:buNone/>
              <a:defRPr sz="57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5700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確かめる。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9978C7D5-9060-4C7C-B757-B26F9AB3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step-1">
            <a:extLst xmlns:a="http://schemas.openxmlformats.org/drawingml/2006/main">
              <a:ext uri="{FF2B5EF4-FFF2-40B4-BE49-F238E27FC236}">
                <a16:creationId xmlns:a16="http://schemas.microsoft.com/office/drawing/2014/main" id="{D97EF436-6DBC-4322-845C-480D5502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01  対象機器</a:t>
            </a:r>
          </a:p>
        </p:txBody>
      </p:sp>
      <p:sp>
        <p:nvSpPr>
          <p:cNvPr id="5" name="close-step-2">
            <a:extLst xmlns:a="http://schemas.openxmlformats.org/drawingml/2006/main">
              <a:ext uri="{FF2B5EF4-FFF2-40B4-BE49-F238E27FC236}">
                <a16:creationId xmlns:a16="http://schemas.microsoft.com/office/drawing/2014/main" id="{9304DFDD-2548-4577-9C1C-EE48A7D0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149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02  ボード</a:t>
            </a:r>
          </a:p>
        </p:txBody>
      </p:sp>
      <p:sp>
        <p:nvSpPr>
          <p:cNvPr id="6" name="close-step-3">
            <a:extLst xmlns:a="http://schemas.openxmlformats.org/drawingml/2006/main">
              <a:ext uri="{FF2B5EF4-FFF2-40B4-BE49-F238E27FC236}">
                <a16:creationId xmlns:a16="http://schemas.microsoft.com/office/drawing/2014/main" id="{AA58AF08-B345-419F-93A7-CDF03373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149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03  通信方式</a:t>
            </a:r>
          </a:p>
        </p:txBody>
      </p:sp>
      <p:sp>
        <p:nvSpPr>
          <p:cNvPr id="7" name="close-outcome">
            <a:extLst xmlns:a="http://schemas.openxmlformats.org/drawingml/2006/main">
              <a:ext uri="{FF2B5EF4-FFF2-40B4-BE49-F238E27FC236}">
                <a16:creationId xmlns:a16="http://schemas.microsoft.com/office/drawing/2014/main" id="{FCFDC5AD-38C9-4D50-95A5-25966F8B1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5B6472"/>
                </a:solidFill>
                <a:latin typeface="Noto Sans JP"/>
                <a:ea typeface="Noto Sans JP"/>
                <a:cs typeface="Noto Sans JP"/>
              </a:rPr>
              <a:t>成功条件・担当者・期限を合意</a:t>
            </a:r>
          </a:p>
        </p:txBody>
      </p:sp>
    </p:spTree>
    <p:extLst>
      <p:ext uri="{BB962C8B-B14F-4D97-AF65-F5344CB8AC3E}">
        <p14:creationId xmlns:p14="http://schemas.microsoft.com/office/powerpoint/2010/main" val="2179877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2026-09-04T11:05:18.1190000Z</dcterms:created>
  <dcterms:modified xsi:type="dcterms:W3CDTF">2026-09-04T11:05:18.1190000Z</dcterms:modified>
</coreProperties>
</file>